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60" r:id="rId5"/>
    <p:sldId id="259" r:id="rId6"/>
    <p:sldId id="258" r:id="rId7"/>
    <p:sldId id="261" r:id="rId8"/>
    <p:sldId id="262" r:id="rId9"/>
    <p:sldId id="264" r:id="rId10"/>
    <p:sldId id="265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D317B-E388-FE1D-16B1-2B60BCFEC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8273E3-662E-D5A6-9F58-5BE81D285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3D5D2-85C3-8D15-D04E-115722140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9A11-8D47-440D-A5AB-E36294185505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0BE06-5F35-8340-143F-C633473AD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B775E-01B0-B04D-D333-CA6377130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9A1A-A920-4051-AF6C-6F7FF77B3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85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0B69-0035-1C3C-BD2C-78B189BA1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015A0-70E9-FDB4-8D61-8843BF6C9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BC02C-AD5D-56F6-E717-405683AD8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9A11-8D47-440D-A5AB-E36294185505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1164A-6010-414E-FE7E-0AD443178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A61DE-9C6E-C3A4-574C-3C2965E3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9A1A-A920-4051-AF6C-6F7FF77B3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40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7DD3-9E22-9866-6495-E729193B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82DA8-2D85-B44B-0D79-638D281F4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36D3A-64D3-F0D7-35A3-BE08EED94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9A11-8D47-440D-A5AB-E36294185505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021EB-5888-0206-075C-1D6DAC0E6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734EB-D2F0-89A8-97EE-0376F55D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9A1A-A920-4051-AF6C-6F7FF77B3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1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4D979-539D-C06D-543C-004522B4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4DAF0-E66A-DE80-2067-71CD16A7D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4E5CB-0005-9375-E6EE-FF2028530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3EC69-ED60-92C9-E5B0-339AB346F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9A11-8D47-440D-A5AB-E36294185505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9AA5F-8AF4-0E7E-D5CB-63999CDD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3126B-E08F-6958-B435-A62F1325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9A1A-A920-4051-AF6C-6F7FF77B3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64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2E30F-5BB2-210D-F5E3-D12772C9E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E22EC-5056-5845-B4C6-ED3C40504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7C7FA-7C13-5F60-0144-6E35C8ECF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BF89A7-98F0-0DC8-4949-80ABDB77B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C5C2A0-C885-CB1F-5948-7970D83E2C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73648A-328E-5FBC-213B-CB0BA2AF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9A11-8D47-440D-A5AB-E36294185505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2EB477-FB8F-5602-5968-A90412C6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CDFA6-7249-BF2D-CBAD-9DBA2567B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9A1A-A920-4051-AF6C-6F7FF77B3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67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B209B-2D63-3214-C793-8A1527616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5BED8-4632-CF05-63DC-F26BBA9F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9A11-8D47-440D-A5AB-E36294185505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6DE45-341F-EA9C-ED08-F45E78D4C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FFC2B-15EA-3342-0ADF-B19B6FEF9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9A1A-A920-4051-AF6C-6F7FF77B3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40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486D94-25AE-D53B-27F9-C1B187290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9A11-8D47-440D-A5AB-E36294185505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CA8BE4-EF1F-E726-D1F5-034C7BD6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9B6C3-6B40-523F-7164-2B6501E11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9A1A-A920-4051-AF6C-6F7FF77B3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14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FD535-CE10-9C1F-C2FF-89D58AC94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84E35-2509-42F9-D64D-AB659B4D2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D924A-4FBC-7D2B-8A7D-583CF0ABF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F14EE-5B8B-A13F-685B-BFC4C91FB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9A11-8D47-440D-A5AB-E36294185505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E40A4-FA8C-29E1-5E84-958CDE708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EEBF1-D5A1-4BE4-76BF-A53A1C0F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9A1A-A920-4051-AF6C-6F7FF77B3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07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922E-65E7-B9B5-BB1F-CF4AD0AD9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47DC8C-0876-D124-90D3-A970F8056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986AA-58F9-9D2E-FB2C-A52337483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AF5A8-FBE8-366F-EE1A-ABEAC5B5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9A11-8D47-440D-A5AB-E36294185505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344EF-F826-A37C-6AE0-BF31CA7F3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0C593-82F2-C657-FB45-C584ED80D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9A1A-A920-4051-AF6C-6F7FF77B3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1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996F-4821-BC06-1FA5-088426B03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34C32C-6D14-FFF3-BF54-A986DB6BD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3EBC1-DF11-53B7-695F-FE19B710D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9A11-8D47-440D-A5AB-E36294185505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B882B-B075-CD0C-1567-145DD29F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1A46B-2570-5C03-D602-B1C751158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9A1A-A920-4051-AF6C-6F7FF77B3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05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865B39-B733-9CF0-3A32-4E1C478B5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1A69E-B035-3B97-6974-5FC7C5F5E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8D2C8-86E2-CC6A-1144-8278FD6EB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9A11-8D47-440D-A5AB-E36294185505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68D45-0E61-F809-3369-B82D0BF5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F88D3-760D-45F8-1694-CC7948BB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9A1A-A920-4051-AF6C-6F7FF77B3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27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8F315-5A17-7382-47D9-116EC64CE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3AAFD-F5BB-62CA-9601-923CACA42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859A0-3F3F-25DA-90FD-F393597C7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E9A11-8D47-440D-A5AB-E36294185505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BCE08-B34C-7EBD-A265-ABEC00575F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09E43-A635-5353-1960-D733DF047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E9A1A-A920-4051-AF6C-6F7FF77B3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17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implementing-expectation-maximisation-algorithm-from-scratch-with-python-9ccb2c8521b3/" TargetMode="External"/><Relationship Id="rId2" Type="http://schemas.openxmlformats.org/officeDocument/2006/relationships/hyperlink" Target="https://cs229.stanford.edu/notes2022fall/cs229-notes8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65E0B-72AD-64BA-C851-CB2B57C4AF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IMDb Graph Reconstruction Using Expectation Maximization Algorithm based </a:t>
            </a:r>
            <a:r>
              <a:rPr lang="en-US"/>
              <a:t>Link Prediction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EA3801-3E45-5A6B-E5CA-D78BAB870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255963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Matthew Halligan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 Analytics Spring 2025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April 28, 2025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Dr. Cetin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Savkli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2165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BC1A9-C83A-1B27-BD92-26600B833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Agenda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4D491-3A75-B735-D0C8-8B4D3C84F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/>
              <a:t>Introduction to the Problem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Goal for this project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Initial Dataset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Expectation Maximization (EM) 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Actor-Genre Preference Results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Link Prediction Methods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Link Prediction Results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Future 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047222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B881AB-FBF9-1332-257E-75FD0EDE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588168"/>
            <a:ext cx="4161282" cy="812132"/>
          </a:xfrm>
        </p:spPr>
        <p:txBody>
          <a:bodyPr anchor="ctr">
            <a:normAutofit fontScale="90000"/>
          </a:bodyPr>
          <a:lstStyle/>
          <a:p>
            <a:r>
              <a:rPr lang="en-US" sz="2800" dirty="0"/>
              <a:t>Introduction to the problem	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4C47F-5118-CDC1-4E1F-CE9B9E376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1600" dirty="0"/>
              <a:t>The IMDb dataset is a relational database which exhibits a many to one relationship between the roles actors play and the actors and movies they are in.</a:t>
            </a:r>
          </a:p>
          <a:p>
            <a:r>
              <a:rPr lang="en-US" sz="1600" dirty="0"/>
              <a:t>The schema does not enable direct connection between actors and genres</a:t>
            </a:r>
          </a:p>
          <a:p>
            <a:r>
              <a:rPr lang="en-US" sz="1600" dirty="0"/>
              <a:t>This database is liable to have noise from:</a:t>
            </a:r>
          </a:p>
          <a:p>
            <a:pPr lvl="1"/>
            <a:r>
              <a:rPr lang="en-US" sz="1600" dirty="0"/>
              <a:t>missing data about which roles were played by actors</a:t>
            </a:r>
          </a:p>
          <a:p>
            <a:pPr lvl="1"/>
            <a:r>
              <a:rPr lang="en-US" sz="1600" dirty="0"/>
              <a:t>inaccurate movie genre classifications </a:t>
            </a:r>
          </a:p>
          <a:p>
            <a:pPr lvl="1"/>
            <a:r>
              <a:rPr lang="en-US" sz="1600" dirty="0"/>
              <a:t>or actors with data that is limited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ACEE6D-2706-9C21-DBD6-2CEC904DB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070460"/>
            <a:ext cx="6922008" cy="281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28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41684-0FD1-68C7-B947-71EB2CF9B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Goal of this Project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84D22-0EE4-8D6D-8EDC-45A256AD4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dirty="0"/>
              <a:t>Reconstruct missing or predict uncertain relationships about actors and the movies they likely had a role in </a:t>
            </a:r>
          </a:p>
          <a:p>
            <a:r>
              <a:rPr lang="en-US" dirty="0"/>
              <a:t>The reconstruction is based on the genre and other directors that they commonly worked with.</a:t>
            </a:r>
          </a:p>
          <a:p>
            <a:r>
              <a:rPr lang="en-US" dirty="0"/>
              <a:t>This is a link prediction problem where given a genre, an actor, a movie, and a director, what is the probability that the actor will have a role in this movie that is, what is P(role | genre, actor, movie, director)?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828376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AEBBB-59FA-42F7-937A-9A6F27147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sz="4800"/>
              <a:t>About the IMDb Dataset</a:t>
            </a: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02268-714B-215C-FE35-68084A0D5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US" sz="2000"/>
              <a:t>Sum of rows in all tables: 4,082,117</a:t>
            </a:r>
          </a:p>
          <a:p>
            <a:r>
              <a:rPr lang="en-US" sz="2000"/>
              <a:t>Quantity of unique actors: 679,410</a:t>
            </a:r>
          </a:p>
          <a:p>
            <a:r>
              <a:rPr lang="en-US" sz="2000"/>
              <a:t>Quantity of Unique Genres: 21</a:t>
            </a:r>
          </a:p>
          <a:p>
            <a:r>
              <a:rPr lang="en-US" sz="2000"/>
              <a:t>Quantity of unique actor-genre pairs: 4,082,117</a:t>
            </a:r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BE0DC-1D17-B7AC-5728-9F2C69047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82" y="2569464"/>
            <a:ext cx="5127436" cy="3678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2B42A9-238F-3B38-8084-050827CC9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713817"/>
            <a:ext cx="5468112" cy="339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16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39AEA-A9C6-A863-3F41-EFE9AF6AE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9520"/>
            <a:ext cx="5626261" cy="1719072"/>
          </a:xfrm>
        </p:spPr>
        <p:txBody>
          <a:bodyPr anchor="b">
            <a:normAutofit/>
          </a:bodyPr>
          <a:lstStyle/>
          <a:p>
            <a:r>
              <a:rPr lang="en-US" sz="3800" dirty="0"/>
              <a:t>Expectation Maximization (EM) Algorithm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BD70CD-C2C1-9B16-BA74-E93FE1BDB2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6" y="2807208"/>
                <a:ext cx="5647598" cy="3410712"/>
              </a:xfrm>
            </p:spPr>
            <p:txBody>
              <a:bodyPr anchor="t">
                <a:normAutofit fontScale="92500" lnSpcReduction="20000"/>
              </a:bodyPr>
              <a:lstStyle/>
              <a:p>
                <a:r>
                  <a:rPr lang="en-US" sz="1900" dirty="0"/>
                  <a:t>Introduced in “Networks” [5] chapter 9.3 provides the computational procedures for implementing the Method of Maximum Likelihood to identify error in graph structure measurements.</a:t>
                </a:r>
              </a:p>
              <a:p>
                <a:r>
                  <a:rPr lang="en-US" sz="1900" dirty="0"/>
                  <a:t>Takes an iterative approach defined concisely in [3]: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1900" dirty="0"/>
                  <a:t>Start with initial guesses for the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9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p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en-US" sz="19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1900" i="1" dirty="0"/>
                  <a:t>Expectation Step</a:t>
                </a:r>
                <a:r>
                  <a:rPr lang="en-US" sz="1900" dirty="0"/>
                  <a:t>: at the </a:t>
                </a:r>
                <a:r>
                  <a:rPr lang="en-US" sz="1900" dirty="0" err="1"/>
                  <a:t>jth</a:t>
                </a:r>
                <a:r>
                  <a:rPr lang="en-US" sz="1900" dirty="0"/>
                  <a:t> step, compute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en-US" sz="15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)|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00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900" i="1" dirty="0"/>
                  <a:t>Maximization Step</a:t>
                </a:r>
                <a:r>
                  <a:rPr lang="en-US" sz="1900" dirty="0"/>
                  <a:t>: determine the new estimate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p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+1)</m:t>
                        </m:r>
                      </m:sup>
                    </m:sSup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00" i="1" dirty="0"/>
                  <a:t>as the maximizer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US" sz="1900" i="1" dirty="0"/>
                  <a:t> over </a:t>
                </a:r>
                <a14:m>
                  <m:oMath xmlns:m="http://schemas.openxmlformats.org/officeDocument/2006/math">
                    <m:r>
                      <a:rPr lang="en-US" sz="19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1900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900" i="1" dirty="0"/>
                  <a:t>Iterate steps 2 and 3 until convergence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BD70CD-C2C1-9B16-BA74-E93FE1BDB2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2807208"/>
                <a:ext cx="5647598" cy="3410712"/>
              </a:xfrm>
              <a:blipFill>
                <a:blip r:embed="rId2"/>
                <a:stretch>
                  <a:fillRect l="-972" t="-2862" r="-1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04AA306-3B2C-EAA4-4896-112D01BF8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708" y="1339686"/>
            <a:ext cx="5647599" cy="36676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E4D466-DC93-33B5-2927-5A207D50A761}"/>
              </a:ext>
            </a:extLst>
          </p:cNvPr>
          <p:cNvSpPr txBox="1"/>
          <p:nvPr/>
        </p:nvSpPr>
        <p:spPr>
          <a:xfrm>
            <a:off x="7126941" y="5007323"/>
            <a:ext cx="4719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Observed Delta of Log-Likelihood convergence starting with random distributions and converging</a:t>
            </a:r>
          </a:p>
        </p:txBody>
      </p:sp>
    </p:spTree>
    <p:extLst>
      <p:ext uri="{BB962C8B-B14F-4D97-AF65-F5344CB8AC3E}">
        <p14:creationId xmlns:p14="http://schemas.microsoft.com/office/powerpoint/2010/main" val="2124977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AF21D8-90BB-B675-5788-F0DAD46B5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</p:spPr>
        <p:txBody>
          <a:bodyPr anchor="b">
            <a:normAutofit/>
          </a:bodyPr>
          <a:lstStyle/>
          <a:p>
            <a:r>
              <a:rPr lang="en-US" sz="5000"/>
              <a:t>Actor-Genre Preference Results</a:t>
            </a:r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7FF2A-FBE8-43E3-9CC1-3ADE2364A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268957"/>
          </a:xfrm>
        </p:spPr>
        <p:txBody>
          <a:bodyPr>
            <a:normAutofit/>
          </a:bodyPr>
          <a:lstStyle/>
          <a:p>
            <a:r>
              <a:rPr lang="en-US" sz="1700" dirty="0"/>
              <a:t>Randomly sampled the network</a:t>
            </a:r>
          </a:p>
          <a:p>
            <a:r>
              <a:rPr lang="en-US" sz="1700" dirty="0"/>
              <a:t>Leaf nodes show actors(blue) who show preference to a single genre(red)</a:t>
            </a:r>
          </a:p>
          <a:p>
            <a:r>
              <a:rPr lang="en-US" sz="1700" dirty="0"/>
              <a:t>A subset of actor nodes worked across genres during their career</a:t>
            </a:r>
          </a:p>
          <a:p>
            <a:r>
              <a:rPr lang="en-US" sz="1700" dirty="0"/>
              <a:t>This random sampling does not match the expected preferences shown by role count.</a:t>
            </a:r>
          </a:p>
          <a:p>
            <a:pPr lvl="1"/>
            <a:r>
              <a:rPr lang="en-US" sz="1700" dirty="0"/>
              <a:t>Likely a result of parameter choice such the sampling threshold is too low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DBD9C7-7474-D5B8-5273-0911B3E6A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397" y="633006"/>
            <a:ext cx="2603605" cy="23432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FA71C8-7B93-0484-3E89-7248EAEE6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328" y="997510"/>
            <a:ext cx="2603605" cy="16142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3C084B-5FB5-8B5C-9DF9-A057E02F8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397" y="3450516"/>
            <a:ext cx="5431536" cy="270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74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7E9F-903E-ED3A-8343-9ACC6224C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Prediction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DE033-C40C-32AE-59BE-21C4DB16C9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0626"/>
                <a:ext cx="10515600" cy="4962249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Create a link prediction function which computes a likelihood score</a:t>
                </a:r>
              </a:p>
              <a:p>
                <a:pPr marL="0" indent="0">
                  <a:buNone/>
                </a:pPr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𝐿𝑖𝑘𝑒𝑙𝑖h𝑜𝑜𝑑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𝑔𝑒𝑛𝑟𝑒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𝑎𝑐𝑡𝑜𝑟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𝑚𝑜𝑣𝑖𝑒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𝑑𝑖𝑟𝑒𝑐𝑡𝑜𝑟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𝑔𝑒𝑛𝑟𝑒</m:t>
                          </m:r>
                        </m: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𝑎𝑐𝑡𝑜𝑟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𝑔𝑒𝑛𝑟𝑒</m:t>
                          </m:r>
                        </m: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𝑚𝑜𝑣𝑖𝑒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𝑔𝑒𝑛𝑟𝑒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𝑑𝑖𝑟𝑒𝑐𝑡𝑜𝑟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r>
                  <a:rPr lang="en-US" dirty="0"/>
                  <a:t>Converting to a probability requires considering the distribution</a:t>
                </a:r>
              </a:p>
              <a:p>
                <a:pPr marL="0" indent="0">
                  <a:buNone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𝑟𝑜𝑙𝑒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𝑔𝑒𝑛𝑟𝑒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𝑎𝑐𝑡𝑜𝑟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𝑚𝑜𝑣𝑖𝑒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𝑑𝑖𝑟𝑒𝑐𝑡𝑜𝑟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𝐿𝑖𝑘𝑒𝑙𝑖h𝑜𝑜𝑑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𝑔𝑒𝑛𝑟𝑒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𝑎𝑐𝑡𝑜𝑟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𝑚𝑜𝑣𝑖𝑒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𝑑𝑖𝑟𝑒𝑐𝑡𝑜𝑟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𝑎𝑐𝑡𝑜𝑟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𝐿𝑖𝑘𝑒𝑙𝑖h𝑜𝑜𝑑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𝑔𝑒𝑛𝑟𝑒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𝑎𝑐𝑡𝑜𝑟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𝑚𝑜𝑣𝑖𝑒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𝑑𝑖𝑟𝑒𝑐𝑡𝑜𝑟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000" dirty="0"/>
              </a:p>
              <a:p>
                <a:r>
                  <a:rPr lang="en-US" dirty="0"/>
                  <a:t>Method: </a:t>
                </a:r>
              </a:p>
              <a:p>
                <a:pPr lvl="1"/>
                <a:r>
                  <a:rPr lang="en-US" dirty="0"/>
                  <a:t>Use probability function to predict a link between role node u to actor node v.</a:t>
                </a:r>
              </a:p>
              <a:p>
                <a:pPr lvl="1"/>
                <a:r>
                  <a:rPr lang="en-US" dirty="0"/>
                  <a:t>Document the decision.</a:t>
                </a:r>
              </a:p>
              <a:p>
                <a:pPr lvl="1"/>
                <a:r>
                  <a:rPr lang="en-US" dirty="0"/>
                  <a:t>Sample the ground truth dataset for prediction accuracy metric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DE033-C40C-32AE-59BE-21C4DB16C9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0626"/>
                <a:ext cx="10515600" cy="4962249"/>
              </a:xfrm>
              <a:blipFill>
                <a:blip r:embed="rId2"/>
                <a:stretch>
                  <a:fillRect l="-928" t="-1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801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795ED-0CC3-7E02-7DDF-ECEB35025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Link Prediction Parameter Tuning Results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BF656-D1E7-25DA-8CE3-F2887B83FE45}"/>
              </a:ext>
            </a:extLst>
          </p:cNvPr>
          <p:cNvSpPr txBox="1"/>
          <p:nvPr/>
        </p:nvSpPr>
        <p:spPr>
          <a:xfrm>
            <a:off x="5541263" y="457200"/>
            <a:ext cx="6007608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Sample size of “likelihood scored” tuples: 116,000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615C4C-9643-F034-23E8-6C1E86EBD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720653"/>
            <a:ext cx="5468112" cy="3376558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57C2A7-0500-3302-7239-FE7AAD40B9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8799011"/>
              </p:ext>
            </p:extLst>
          </p:nvPr>
        </p:nvGraphicFramePr>
        <p:xfrm>
          <a:off x="6254496" y="2817853"/>
          <a:ext cx="5468113" cy="3182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179">
                  <a:extLst>
                    <a:ext uri="{9D8B030D-6E8A-4147-A177-3AD203B41FA5}">
                      <a16:colId xmlns:a16="http://schemas.microsoft.com/office/drawing/2014/main" val="1157755560"/>
                    </a:ext>
                  </a:extLst>
                </a:gridCol>
                <a:gridCol w="1232316">
                  <a:extLst>
                    <a:ext uri="{9D8B030D-6E8A-4147-A177-3AD203B41FA5}">
                      <a16:colId xmlns:a16="http://schemas.microsoft.com/office/drawing/2014/main" val="3176295732"/>
                    </a:ext>
                  </a:extLst>
                </a:gridCol>
                <a:gridCol w="1232316">
                  <a:extLst>
                    <a:ext uri="{9D8B030D-6E8A-4147-A177-3AD203B41FA5}">
                      <a16:colId xmlns:a16="http://schemas.microsoft.com/office/drawing/2014/main" val="1257257879"/>
                    </a:ext>
                  </a:extLst>
                </a:gridCol>
                <a:gridCol w="1661302">
                  <a:extLst>
                    <a:ext uri="{9D8B030D-6E8A-4147-A177-3AD203B41FA5}">
                      <a16:colId xmlns:a16="http://schemas.microsoft.com/office/drawing/2014/main" val="828594265"/>
                    </a:ext>
                  </a:extLst>
                </a:gridCol>
              </a:tblGrid>
              <a:tr h="895702">
                <a:tc>
                  <a:txBody>
                    <a:bodyPr/>
                    <a:lstStyle/>
                    <a:p>
                      <a:r>
                        <a:rPr lang="en-US" sz="1700"/>
                        <a:t>Probability Threshold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Predicted Edges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Correctly Predicted Edges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Accuracy (%) </a:t>
                      </a:r>
                    </a:p>
                  </a:txBody>
                  <a:tcPr marL="87437" marR="87437" marT="43719" marB="43719"/>
                </a:tc>
                <a:extLst>
                  <a:ext uri="{0D108BD9-81ED-4DB2-BD59-A6C34878D82A}">
                    <a16:rowId xmlns:a16="http://schemas.microsoft.com/office/drawing/2014/main" val="2050247887"/>
                  </a:ext>
                </a:extLst>
              </a:tr>
              <a:tr h="381077">
                <a:tc>
                  <a:txBody>
                    <a:bodyPr/>
                    <a:lstStyle/>
                    <a:p>
                      <a:r>
                        <a:rPr lang="en-US" sz="1700"/>
                        <a:t>0.25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40,984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32,571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79.47%</a:t>
                      </a:r>
                    </a:p>
                  </a:txBody>
                  <a:tcPr marL="87437" marR="87437" marT="43719" marB="43719"/>
                </a:tc>
                <a:extLst>
                  <a:ext uri="{0D108BD9-81ED-4DB2-BD59-A6C34878D82A}">
                    <a16:rowId xmlns:a16="http://schemas.microsoft.com/office/drawing/2014/main" val="3822484954"/>
                  </a:ext>
                </a:extLst>
              </a:tr>
              <a:tr h="381077">
                <a:tc>
                  <a:txBody>
                    <a:bodyPr/>
                    <a:lstStyle/>
                    <a:p>
                      <a:r>
                        <a:rPr lang="en-US" sz="1700"/>
                        <a:t>0.50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38,982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31,553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80.94%</a:t>
                      </a:r>
                    </a:p>
                  </a:txBody>
                  <a:tcPr marL="87437" marR="87437" marT="43719" marB="43719"/>
                </a:tc>
                <a:extLst>
                  <a:ext uri="{0D108BD9-81ED-4DB2-BD59-A6C34878D82A}">
                    <a16:rowId xmlns:a16="http://schemas.microsoft.com/office/drawing/2014/main" val="2947951403"/>
                  </a:ext>
                </a:extLst>
              </a:tr>
              <a:tr h="381077">
                <a:tc>
                  <a:txBody>
                    <a:bodyPr/>
                    <a:lstStyle/>
                    <a:p>
                      <a:r>
                        <a:rPr lang="en-US" sz="1700"/>
                        <a:t>0.75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36,992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31,230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84.42%</a:t>
                      </a:r>
                    </a:p>
                  </a:txBody>
                  <a:tcPr marL="87437" marR="87437" marT="43719" marB="43719"/>
                </a:tc>
                <a:extLst>
                  <a:ext uri="{0D108BD9-81ED-4DB2-BD59-A6C34878D82A}">
                    <a16:rowId xmlns:a16="http://schemas.microsoft.com/office/drawing/2014/main" val="3457570699"/>
                  </a:ext>
                </a:extLst>
              </a:tr>
              <a:tr h="381077">
                <a:tc>
                  <a:txBody>
                    <a:bodyPr/>
                    <a:lstStyle/>
                    <a:p>
                      <a:r>
                        <a:rPr lang="en-US" sz="1700" dirty="0"/>
                        <a:t>0.95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32,280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31,008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96.06%</a:t>
                      </a:r>
                    </a:p>
                  </a:txBody>
                  <a:tcPr marL="87437" marR="87437" marT="43719" marB="43719"/>
                </a:tc>
                <a:extLst>
                  <a:ext uri="{0D108BD9-81ED-4DB2-BD59-A6C34878D82A}">
                    <a16:rowId xmlns:a16="http://schemas.microsoft.com/office/drawing/2014/main" val="775743412"/>
                  </a:ext>
                </a:extLst>
              </a:tr>
              <a:tr h="381077">
                <a:tc>
                  <a:txBody>
                    <a:bodyPr/>
                    <a:lstStyle/>
                    <a:p>
                      <a:r>
                        <a:rPr lang="en-US" sz="1700" dirty="0"/>
                        <a:t>0.99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31,386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30,907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98.47%</a:t>
                      </a:r>
                    </a:p>
                  </a:txBody>
                  <a:tcPr marL="87437" marR="87437" marT="43719" marB="43719"/>
                </a:tc>
                <a:extLst>
                  <a:ext uri="{0D108BD9-81ED-4DB2-BD59-A6C34878D82A}">
                    <a16:rowId xmlns:a16="http://schemas.microsoft.com/office/drawing/2014/main" val="2304116453"/>
                  </a:ext>
                </a:extLst>
              </a:tr>
              <a:tr h="381077">
                <a:tc>
                  <a:txBody>
                    <a:bodyPr/>
                    <a:lstStyle/>
                    <a:p>
                      <a:r>
                        <a:rPr lang="en-US" sz="1700"/>
                        <a:t>1.00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77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0</a:t>
                      </a:r>
                    </a:p>
                  </a:txBody>
                  <a:tcPr marL="87437" marR="87437" marT="43719" marB="43719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0.00%</a:t>
                      </a:r>
                    </a:p>
                  </a:txBody>
                  <a:tcPr marL="87437" marR="87437" marT="43719" marB="43719"/>
                </a:tc>
                <a:extLst>
                  <a:ext uri="{0D108BD9-81ED-4DB2-BD59-A6C34878D82A}">
                    <a16:rowId xmlns:a16="http://schemas.microsoft.com/office/drawing/2014/main" val="1656607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581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246A-CEA0-3386-0277-9409446F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80D60F-F54B-679D-2D50-9857778E0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full calculation of link prediction scores is extremely computationally expensive given the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actors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𝑑𝑖𝑟𝑒𝑐𝑡𝑜𝑟𝑠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𝑚𝑜𝑣𝑖𝑒𝑠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complexity.</a:t>
                </a:r>
              </a:p>
              <a:p>
                <a:pPr lvl="1"/>
                <a:r>
                  <a:rPr lang="en-US" dirty="0"/>
                  <a:t>I was able to separate this into jobs and dedicate my three spare cores to the task.</a:t>
                </a:r>
              </a:p>
              <a:p>
                <a:pPr lvl="1"/>
                <a:r>
                  <a:rPr lang="en-US" dirty="0"/>
                  <a:t>Using a GPU would better suit the highly parallelizable task.</a:t>
                </a:r>
              </a:p>
              <a:p>
                <a:r>
                  <a:rPr lang="en-US" dirty="0"/>
                  <a:t>EM is an unsupervised statistical learning technique that is sensitive to parameter choice.</a:t>
                </a:r>
              </a:p>
              <a:p>
                <a:pPr lvl="1"/>
                <a:r>
                  <a:rPr lang="en-US" dirty="0"/>
                  <a:t>Parameter tune experimentation would assist in identifying the optimal parameters to improve the link prediction pipeline.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80D60F-F54B-679D-2D50-9857778E0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6638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5E247-5E13-1D2E-95A8-A07E7199A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F74AF-D66F-24F9-6B63-06952CD21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[1] M. Collins, "The Naive Bayes Model, Maximum-Likelihood Estimation, and the EM Algorithm," [Online]. Available: https://www.cs.columbia.edu/~mcollins/em.pdf. [Accessed: 14-Apr-2025].</a:t>
            </a:r>
          </a:p>
          <a:p>
            <a:pPr>
              <a:buNone/>
            </a:pPr>
            <a:r>
              <a:rPr lang="en-US" dirty="0"/>
              <a:t>[2] T. Ma and A. Ng, "CS229 Lecture Notes," Stanford University, 13-May-2019. [Online]. Available: </a:t>
            </a:r>
            <a:r>
              <a:rPr lang="en-US" dirty="0">
                <a:hlinkClick r:id="rId2"/>
              </a:rPr>
              <a:t>https://cs229.stanford.edu/notes2022fall/cs229-notes8.pdf</a:t>
            </a:r>
            <a:r>
              <a:rPr lang="en-US" dirty="0"/>
              <a:t>. [Accessed: 14-Apr-2025].</a:t>
            </a:r>
          </a:p>
          <a:p>
            <a:pPr>
              <a:buNone/>
            </a:pPr>
            <a:r>
              <a:rPr lang="en-US" dirty="0"/>
              <a:t>[3] T. Hastie, R. </a:t>
            </a:r>
            <a:r>
              <a:rPr lang="en-US" dirty="0" err="1"/>
              <a:t>Tibshirani</a:t>
            </a:r>
            <a:r>
              <a:rPr lang="en-US" dirty="0"/>
              <a:t>, and J. Friedman, </a:t>
            </a:r>
            <a:r>
              <a:rPr lang="en-US" i="1" dirty="0"/>
              <a:t>The Elements of Statistical Learning: Data Mining, Inference, and Prediction</a:t>
            </a:r>
            <a:r>
              <a:rPr lang="en-US" dirty="0"/>
              <a:t>, 2nd ed. New York, NY, USA: Springer, 2009.</a:t>
            </a:r>
          </a:p>
          <a:p>
            <a:pPr>
              <a:buNone/>
            </a:pPr>
            <a:r>
              <a:rPr lang="en-US" dirty="0"/>
              <a:t>[4] A. Sri (author at Towards Data Science), "Implementing Expectation </a:t>
            </a:r>
            <a:r>
              <a:rPr lang="en-US" dirty="0" err="1"/>
              <a:t>Maximisation</a:t>
            </a:r>
            <a:r>
              <a:rPr lang="en-US" dirty="0"/>
              <a:t> Algorithm From Scratch With Python," </a:t>
            </a:r>
            <a:r>
              <a:rPr lang="en-US" i="1" dirty="0"/>
              <a:t>Towards Data Science</a:t>
            </a:r>
            <a:r>
              <a:rPr lang="en-US" dirty="0"/>
              <a:t>, 2019. [Online]. Available: </a:t>
            </a:r>
            <a:r>
              <a:rPr lang="en-US" dirty="0">
                <a:hlinkClick r:id="rId3"/>
              </a:rPr>
              <a:t>https://towardsdatascience.com/implementing-expectation-maximisation-algorithm-from-scratch-with-python-9ccb2c8521b3/</a:t>
            </a:r>
            <a:r>
              <a:rPr lang="en-US" dirty="0"/>
              <a:t>. [Accessed: 14-Apr-2025].</a:t>
            </a:r>
          </a:p>
          <a:p>
            <a:pPr marL="0" indent="0">
              <a:buNone/>
            </a:pPr>
            <a:r>
              <a:rPr lang="en-US" dirty="0"/>
              <a:t>[5] M. E. J. Newman, </a:t>
            </a:r>
            <a:r>
              <a:rPr lang="en-US" i="1" dirty="0"/>
              <a:t>Networks</a:t>
            </a:r>
            <a:r>
              <a:rPr lang="en-US" dirty="0"/>
              <a:t>, 2nd ed. Oxford, U.K.: Oxford Univ. Press, 2018.</a:t>
            </a:r>
          </a:p>
        </p:txBody>
      </p:sp>
    </p:spTree>
    <p:extLst>
      <p:ext uri="{BB962C8B-B14F-4D97-AF65-F5344CB8AC3E}">
        <p14:creationId xmlns:p14="http://schemas.microsoft.com/office/powerpoint/2010/main" val="1292904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5947</TotalTime>
  <Words>863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Cambria Math</vt:lpstr>
      <vt:lpstr>Office Theme</vt:lpstr>
      <vt:lpstr>IMDb Graph Reconstruction Using Expectation Maximization Algorithm based Link Prediction</vt:lpstr>
      <vt:lpstr>Agenda</vt:lpstr>
      <vt:lpstr>Introduction to the problem </vt:lpstr>
      <vt:lpstr>Goal of this Project</vt:lpstr>
      <vt:lpstr>About the IMDb Dataset</vt:lpstr>
      <vt:lpstr>Expectation Maximization (EM) Algorithm</vt:lpstr>
      <vt:lpstr>Actor-Genre Preference Results</vt:lpstr>
      <vt:lpstr>Link Prediction Method</vt:lpstr>
      <vt:lpstr>Link Prediction Parameter Tuning Results</vt:lpstr>
      <vt:lpstr>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Halligan</dc:creator>
  <cp:lastModifiedBy>Matthew Halligan</cp:lastModifiedBy>
  <cp:revision>16</cp:revision>
  <dcterms:created xsi:type="dcterms:W3CDTF">2025-04-22T00:11:52Z</dcterms:created>
  <dcterms:modified xsi:type="dcterms:W3CDTF">2025-04-29T00:50:58Z</dcterms:modified>
</cp:coreProperties>
</file>